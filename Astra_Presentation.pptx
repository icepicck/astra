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-914400"/>
            <a:ext cx="6400800" cy="6400800"/>
          </a:xfrm>
          <a:prstGeom prst="ellipse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645920"/>
            <a:ext cx="10820095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200" b="1" i="0">
                <a:solidFill>
                  <a:srgbClr val="E0E0E0"/>
                </a:solidFill>
                <a:latin typeface="Calibri"/>
              </a:defRPr>
            </a:pPr>
            <a:r>
              <a:t>ASTRA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74320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0" i="0">
                <a:solidFill>
                  <a:srgbClr val="FF6B00"/>
                </a:solidFill>
                <a:latin typeface="Calibri"/>
              </a:defRPr>
            </a:pPr>
            <a:r>
              <a:t>Cost Intelligence for Electrical Contractors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74720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1">
                <a:solidFill>
                  <a:srgbClr val="999999"/>
                </a:solidFill>
                <a:latin typeface="Calibri"/>
              </a:defRPr>
            </a:pPr>
            <a:r>
              <a:t>The offline-first app that turns every job into smarter estimates.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3550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Built by an electrician, for electricians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E0E0E0"/>
                </a:solidFill>
                <a:latin typeface="Calibri"/>
              </a:defRPr>
            </a:pPr>
            <a:r>
              <a:t>Small electrical shops are bleeding margin.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03120"/>
            <a:ext cx="4754880" cy="17373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03120"/>
            <a:ext cx="54864" cy="17373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E0E0E0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No Historical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51760"/>
            <a:ext cx="3657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Every estimate starts from scratch. What did the last job at that address cost? Nobody knows.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2103120"/>
            <a:ext cx="4754880" cy="17373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2103120"/>
            <a:ext cx="54864" cy="17373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0" y="2331720"/>
            <a:ext cx="457200" cy="4572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E0E0E0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Paper &amp; Spreadsheets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3657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60-70% of small crews use zero field service software. Job details live in texts and notebooks.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114800"/>
            <a:ext cx="4754880" cy="17373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114800"/>
            <a:ext cx="54864" cy="17373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343400"/>
            <a:ext cx="457200" cy="4572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E0E0E0"/>
                </a:solidFill>
                <a:latin typeface="Calibri"/>
              </a:defRPr>
            </a:pPr>
            <a:r>
              <a:t>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9768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Guesswork 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63440"/>
            <a:ext cx="3657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Material costs, labor hours, and markups are gut-feel numbers. Margin leaks are invisible.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4114800"/>
            <a:ext cx="4754880" cy="17373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06440" y="4114800"/>
            <a:ext cx="54864" cy="17373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0" y="4343400"/>
            <a:ext cx="457200" cy="4572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E0E0E0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29768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No Signal, No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663440"/>
            <a:ext cx="3657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Most apps die without WiFi. On a job site with one bar of signal, cloud-only tools are useless.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E0E0E0"/>
                </a:solidFill>
                <a:latin typeface="Calibri"/>
              </a:defRPr>
            </a:pPr>
            <a:r>
              <a:t>Astra learns from every job you log.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7315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Astra is a cost intelligence engine disguised as a job tracker. Every ticket you create, every material you pick, every address you visit — it all feeds back into smarter estimates. The more you use it, the more accurate it gets.</a:t>
            </a:r>
          </a:p>
        </p:txBody>
      </p:sp>
      <p:sp>
        <p:nvSpPr>
          <p:cNvPr id="5" name="Oval 4"/>
          <p:cNvSpPr/>
          <p:nvPr/>
        </p:nvSpPr>
        <p:spPr>
          <a:xfrm>
            <a:off x="1691640" y="3474720"/>
            <a:ext cx="1097280" cy="109728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100" b="1">
                <a:solidFill>
                  <a:srgbClr val="E0E0E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 i="0">
                <a:solidFill>
                  <a:srgbClr val="E0E0E0"/>
                </a:solidFill>
                <a:latin typeface="Calibri"/>
              </a:defRPr>
            </a:pPr>
            <a:r>
              <a:t>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257800"/>
            <a:ext cx="3200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Log jobs, materials,</a:t>
            </a:r>
            <a:br/>
            <a:r>
              <a:t>photos &amp; addresses</a:t>
            </a:r>
          </a:p>
        </p:txBody>
      </p:sp>
      <p:sp>
        <p:nvSpPr>
          <p:cNvPr id="8" name="Oval 7"/>
          <p:cNvSpPr/>
          <p:nvPr/>
        </p:nvSpPr>
        <p:spPr>
          <a:xfrm>
            <a:off x="5257800" y="3474720"/>
            <a:ext cx="1097280" cy="109728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100" b="1">
                <a:solidFill>
                  <a:srgbClr val="E0E0E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475488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 i="0">
                <a:solidFill>
                  <a:srgbClr val="E0E0E0"/>
                </a:solidFill>
                <a:latin typeface="Calibri"/>
              </a:defRPr>
            </a:pPr>
            <a:r>
              <a:t>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5257800"/>
            <a:ext cx="3200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Build property intelligence</a:t>
            </a:r>
            <a:br/>
            <a:r>
              <a:t>&amp; cost history automatically</a:t>
            </a:r>
          </a:p>
        </p:txBody>
      </p:sp>
      <p:sp>
        <p:nvSpPr>
          <p:cNvPr id="11" name="Oval 10"/>
          <p:cNvSpPr/>
          <p:nvPr/>
        </p:nvSpPr>
        <p:spPr>
          <a:xfrm>
            <a:off x="8823960" y="3474720"/>
            <a:ext cx="1097280" cy="109728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100" b="1">
                <a:solidFill>
                  <a:srgbClr val="E0E0E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75488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 i="0">
                <a:solidFill>
                  <a:srgbClr val="E0E0E0"/>
                </a:solidFill>
                <a:latin typeface="Calibri"/>
              </a:defRPr>
            </a:pPr>
            <a:r>
              <a:t>Quote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257800"/>
            <a:ext cx="3200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Generate estimates powered</a:t>
            </a:r>
            <a:br/>
            <a:r>
              <a:t>by your own real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931920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931920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E0E0E0"/>
                </a:solidFill>
                <a:latin typeface="Calibri"/>
              </a:defRPr>
            </a:pPr>
            <a:r>
              <a:t>Install it. Open it. Start working.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057400"/>
            <a:ext cx="502920" cy="5029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E0E0E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01168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E0E0E0"/>
                </a:solidFill>
                <a:latin typeface="Calibri"/>
              </a:defRPr>
            </a:pPr>
            <a:r>
              <a:t>Install from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37744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Visit the app URL on your phone. Tap 'Add to Home Screen.' That's it — no app store needed.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E0E0E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1089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E0E0E0"/>
                </a:solidFill>
                <a:latin typeface="Calibri"/>
              </a:defRPr>
            </a:pPr>
            <a:r>
              <a:t>Create Your First Ticket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4747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Add a job with an address, job type, and assigned tech. Astra starts building your data from day one.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4251960"/>
            <a:ext cx="502920" cy="5029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E0E0E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2062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E0E0E0"/>
                </a:solidFill>
                <a:latin typeface="Calibri"/>
              </a:defRPr>
            </a:pPr>
            <a:r>
              <a:t>Pick Materials On-Site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5720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Search 220+ materials, tap to add, adjust quantities. Works with dirty hands and one thumb.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5349239"/>
            <a:ext cx="502920" cy="5029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E0E0E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303519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E0E0E0"/>
                </a:solidFill>
                <a:latin typeface="Calibri"/>
              </a:defRPr>
            </a:pPr>
            <a:r>
              <a:t>Build Estimates in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669279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Astra auto-suggests materials based on job type and address history. Set your markup, labor rate, and 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BUILT FOR THE REAL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200" b="1" i="0">
                <a:solidFill>
                  <a:srgbClr val="E0E0E0"/>
                </a:solidFill>
                <a:latin typeface="Calibri"/>
              </a:defRPr>
            </a:pPr>
            <a:r>
              <a:t>Works offline. Always.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50292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Most field service apps require a constant internet connection. On a job site with one bar of signal, that means spinning wheels and lost time.</a:t>
            </a:r>
            <a:br/>
            <a:br/>
            <a:r>
              <a:t>Astra stores everything locally on your device first. Your data is always there — zero lag, zero loading, zero excuses. When you have connectivity, it syncs to the cloud in the background.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2103120"/>
            <a:ext cx="4572000" cy="8686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2103120"/>
            <a:ext cx="54864" cy="8686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19456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 i="0">
                <a:solidFill>
                  <a:srgbClr val="E0E0E0"/>
                </a:solidFill>
                <a:latin typeface="Calibri"/>
              </a:defRPr>
            </a:pPr>
            <a:r>
              <a:t>Cache-First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51460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App loads from device cache instantly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3154680"/>
            <a:ext cx="4572000" cy="8686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3154680"/>
            <a:ext cx="54864" cy="8686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461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 i="0">
                <a:solidFill>
                  <a:srgbClr val="E0E0E0"/>
                </a:solidFill>
                <a:latin typeface="Calibri"/>
              </a:defRPr>
            </a:pPr>
            <a:r>
              <a:t>Local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356616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All jobs, materials &amp; photos stored on-device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4206240"/>
            <a:ext cx="4572000" cy="8686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4206240"/>
            <a:ext cx="54864" cy="8686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429768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 i="0">
                <a:solidFill>
                  <a:srgbClr val="E0E0E0"/>
                </a:solidFill>
                <a:latin typeface="Calibri"/>
              </a:defRPr>
            </a:pPr>
            <a:r>
              <a:t>Background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461772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Data syncs to cloud when signal is available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5257799"/>
            <a:ext cx="4572000" cy="8686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5257799"/>
            <a:ext cx="54864" cy="8686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5349239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 i="0">
                <a:solidFill>
                  <a:srgbClr val="E0E0E0"/>
                </a:solidFill>
                <a:latin typeface="Calibri"/>
              </a:defRPr>
            </a:pPr>
            <a:r>
              <a:t>PWA Technology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5669279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Install from browser, runs like a native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E0E0E0"/>
                </a:solidFill>
                <a:latin typeface="Calibri"/>
              </a:defRPr>
            </a:pPr>
            <a:r>
              <a:t>Job Tracking That Actually Gets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Create, assign, and track service tickets with daily and weekly views. Every field is designed for speed — because the foreman is waiting.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68880"/>
            <a:ext cx="4937760" cy="11887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468880"/>
            <a:ext cx="54864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 i="0">
                <a:solidFill>
                  <a:srgbClr val="E0E0E0"/>
                </a:solidFill>
                <a:latin typeface="Calibri"/>
              </a:defRPr>
            </a:pPr>
            <a:r>
              <a:t>Ticket CRUD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572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Create jobs with address, type, tech, and dates. Full lifecycle from new to archived.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2468880"/>
            <a:ext cx="4937760" cy="11887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2468880"/>
            <a:ext cx="54864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578608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 i="0">
                <a:solidFill>
                  <a:srgbClr val="E0E0E0"/>
                </a:solidFill>
                <a:latin typeface="Calibri"/>
              </a:defRPr>
            </a:pPr>
            <a:r>
              <a:t>Daily &amp; Weekly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926080"/>
            <a:ext cx="4572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See what's on the board today or plan the week ahead with collapsible date headers.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40480"/>
            <a:ext cx="4937760" cy="11887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840480"/>
            <a:ext cx="54864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50208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 i="0">
                <a:solidFill>
                  <a:srgbClr val="E0E0E0"/>
                </a:solidFill>
                <a:latin typeface="Calibri"/>
              </a:defRPr>
            </a:pPr>
            <a:r>
              <a:t>Status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4572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Move tickets through your workflow — New, Scheduled, In Progress, Complete, Invoiced.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840480"/>
            <a:ext cx="4937760" cy="11887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3840480"/>
            <a:ext cx="54864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950208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 i="0">
                <a:solidFill>
                  <a:srgbClr val="E0E0E0"/>
                </a:solidFill>
                <a:latin typeface="Calibri"/>
              </a:defRPr>
            </a:pPr>
            <a:r>
              <a:t>Tech Assignment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97680"/>
            <a:ext cx="4572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Assign jobs to your crew. Each tech sees their own workload at a glance.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212080"/>
            <a:ext cx="4937760" cy="11887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212080"/>
            <a:ext cx="54864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21808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 i="0">
                <a:solidFill>
                  <a:srgbClr val="E0E0E0"/>
                </a:solidFill>
                <a:latin typeface="Calibri"/>
              </a:defRPr>
            </a:pPr>
            <a:r>
              <a:t>Full-Text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4572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Search across all tickets — by address, notes, job type, or anything else.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5212080"/>
            <a:ext cx="4937760" cy="11887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5212080"/>
            <a:ext cx="54864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5321808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 i="0">
                <a:solidFill>
                  <a:srgbClr val="E0E0E0"/>
                </a:solidFill>
                <a:latin typeface="Calibri"/>
              </a:defRPr>
            </a:pPr>
            <a:r>
              <a:t>Archive &amp;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669280"/>
            <a:ext cx="4572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Completed jobs move to archive but stay searchable. Nothing is ever lost.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E0E0E0"/>
                </a:solidFill>
                <a:latin typeface="Calibri"/>
              </a:defRPr>
            </a:pPr>
            <a:r>
              <a:t>220+ Materials at Your Fingertips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486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A comprehensive catalog of rough-in and trim-out materials with search, categories, and variant support. Built by a working electrician who knows what's actually on the truck.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51760"/>
            <a:ext cx="5303520" cy="8229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651760"/>
            <a:ext cx="54864" cy="8229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24912"/>
            <a:ext cx="4846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E0E0E0"/>
                </a:solidFill>
                <a:latin typeface="Calibri"/>
              </a:defRPr>
            </a:pPr>
            <a:r>
              <a:t>95 Rough-In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Wire, boxes, connectors, fittings, conduit — everything for rough-in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657600"/>
            <a:ext cx="5303520" cy="8229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657600"/>
            <a:ext cx="54864" cy="8229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4846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E0E0E0"/>
                </a:solidFill>
                <a:latin typeface="Calibri"/>
              </a:defRPr>
            </a:pPr>
            <a:r>
              <a:t>127+ Trim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Devices, covers, breakers, panels — with Toggle/Decora variants and brand options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663440"/>
            <a:ext cx="5303520" cy="8229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663440"/>
            <a:ext cx="54864" cy="8229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36592"/>
            <a:ext cx="4846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E0E0E0"/>
                </a:solidFill>
                <a:latin typeface="Calibri"/>
              </a:defRPr>
            </a:pPr>
            <a:r>
              <a:t>Smart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47488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Type to filter instantly. Find any material in seconds, even with dirty gloves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669280"/>
            <a:ext cx="5303520" cy="8229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5669280"/>
            <a:ext cx="54864" cy="8229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42432"/>
            <a:ext cx="4846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E0E0E0"/>
                </a:solidFill>
                <a:latin typeface="Calibri"/>
              </a:defRPr>
            </a:pPr>
            <a:r>
              <a:t>Bulk Templates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053328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Rough-in starter and trim-out starter templates load common materials in one tap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651760"/>
            <a:ext cx="4572000" cy="38404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283464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200" b="1" i="0">
                <a:solidFill>
                  <a:srgbClr val="FF6B00"/>
                </a:solidFill>
                <a:latin typeface="Calibri"/>
              </a:defRPr>
            </a:pPr>
            <a:r>
              <a:t>222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61188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Total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9768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200" b="1" i="0">
                <a:solidFill>
                  <a:srgbClr val="FF6B0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0749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Frequent Flyers</a:t>
            </a:r>
            <a:br/>
            <a:r>
              <a:t>Auto-Surfaced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5486400"/>
            <a:ext cx="4114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Your top 10 most-used materials appear first — so the stuff you grab every day is always one tap away.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E0E0E0"/>
                </a:solidFill>
                <a:latin typeface="Calibri"/>
              </a:defRPr>
            </a:pPr>
            <a:r>
              <a:t>Designed for Dirty Hands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The material picker was built for one-handed use on a phone screen in the field.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560320"/>
            <a:ext cx="3291840" cy="1828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560320"/>
            <a:ext cx="329184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834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E0E0E0"/>
                </a:solidFill>
                <a:latin typeface="Calibri"/>
              </a:defRPr>
            </a:pPr>
            <a:r>
              <a:t>Tap to Add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2834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+/- steppers with long-press for fast quantity changes. No typing needed.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2560320"/>
            <a:ext cx="3291840" cy="1828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2560320"/>
            <a:ext cx="329184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2834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E0E0E0"/>
                </a:solidFill>
                <a:latin typeface="Calibri"/>
              </a:defRPr>
            </a:pPr>
            <a:r>
              <a:t>Inline Qty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91840"/>
            <a:ext cx="2834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Need 47 feet of 12/2? Tap the number and type it directly.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2560320"/>
            <a:ext cx="3291840" cy="1828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2560320"/>
            <a:ext cx="329184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834640"/>
            <a:ext cx="2834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E0E0E0"/>
                </a:solidFill>
                <a:latin typeface="Calibri"/>
              </a:defRPr>
            </a:pPr>
            <a:r>
              <a:t>Variant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91840"/>
            <a:ext cx="2834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Toggle or Decora? Square D or Eaton? Pick the variant, Astra tracks the part ref.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846320"/>
            <a:ext cx="10820095" cy="1371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846320"/>
            <a:ext cx="10820095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12064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E0E0E0"/>
                </a:solidFill>
                <a:latin typeface="Calibri"/>
              </a:defRPr>
            </a:pPr>
            <a:r>
              <a:t>"Previously at this Address"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77840"/>
            <a:ext cx="9601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When you open a material picker for a job, Astra shows what materials were used at that same property before. This is the killer feature — returning to an address means you already know what you need.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THE STRATEGIC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800" b="1" i="0">
                <a:solidFill>
                  <a:srgbClr val="E0E0E0"/>
                </a:solidFill>
                <a:latin typeface="Calibri"/>
              </a:defRPr>
            </a:pPr>
            <a:r>
              <a:t>Address-Level Material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7315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Every material added to a ticket becomes property intelligence data. Over time, Astra builds a detailed profile of every address your shop has serviced. No competitor does this.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017520"/>
            <a:ext cx="5029200" cy="3200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017520"/>
            <a:ext cx="50292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004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E0E0E0"/>
                </a:solidFill>
                <a:latin typeface="Calibri"/>
              </a:defRPr>
            </a:pPr>
            <a:r>
              <a:t>1234 Oak Street, Katy 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666666"/>
                </a:solidFill>
                <a:latin typeface="Calibri"/>
              </a:defRPr>
            </a:pPr>
            <a:r>
              <a:t>Panel: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749039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E0E0E0"/>
                </a:solidFill>
                <a:latin typeface="Calibri"/>
              </a:defRPr>
            </a:pPr>
            <a:r>
              <a:t>Square D QO 200A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666666"/>
                </a:solidFill>
                <a:latin typeface="Calibri"/>
              </a:defRPr>
            </a:pPr>
            <a:r>
              <a:t>Breaker Brand: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411480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E0E0E0"/>
                </a:solidFill>
                <a:latin typeface="Calibri"/>
              </a:defRPr>
            </a:pPr>
            <a:r>
              <a:t>Square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666666"/>
                </a:solidFill>
                <a:latin typeface="Calibri"/>
              </a:defRPr>
            </a:pPr>
            <a:r>
              <a:t>Builder: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48056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E0E0E0"/>
                </a:solidFill>
                <a:latin typeface="Calibri"/>
              </a:defRPr>
            </a:pPr>
            <a:r>
              <a:t>Perry Homes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463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666666"/>
                </a:solidFill>
                <a:latin typeface="Calibri"/>
              </a:defRPr>
            </a:pPr>
            <a:r>
              <a:t>Last Service: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84632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E0E0E0"/>
                </a:solidFill>
                <a:latin typeface="Calibri"/>
              </a:defRPr>
            </a:pPr>
            <a:r>
              <a:t>Rough-in — 12/2, 14/2, boxes, connectors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21208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666666"/>
                </a:solidFill>
                <a:latin typeface="Calibri"/>
              </a:defRPr>
            </a:pPr>
            <a:r>
              <a:t>Total Jobs: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521208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E0E0E0"/>
                </a:solidFill>
                <a:latin typeface="Calibri"/>
              </a:defRPr>
            </a:pPr>
            <a:r>
              <a:t>3 visits across 8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7784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 i="0">
                <a:solidFill>
                  <a:srgbClr val="666666"/>
                </a:solidFill>
                <a:latin typeface="Calibri"/>
              </a:defRPr>
            </a:pPr>
            <a:r>
              <a:t>Avg Materials: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57784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E0E0E0"/>
                </a:solidFill>
                <a:latin typeface="Calibri"/>
              </a:defRPr>
            </a:pPr>
            <a:r>
              <a:t>47 items per job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017520"/>
            <a:ext cx="4846320" cy="3200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291840"/>
            <a:ext cx="438912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600"/>
              </a:spcAft>
              <a:defRPr sz="2000" b="1" i="0">
                <a:solidFill>
                  <a:srgbClr val="FF6B00"/>
                </a:solidFill>
                <a:latin typeface="Calibri"/>
              </a:defRPr>
            </a:pPr>
            <a:r>
              <a:t>The Product Moment</a:t>
            </a:r>
          </a:p>
          <a:p>
            <a:pPr algn="l">
              <a:spcAft>
                <a:spcPts val="1200"/>
              </a:spcAft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A supervisor pulls up a new job at an address the shop has serviced before.</a:t>
            </a:r>
          </a:p>
          <a:p>
            <a:pPr algn="l">
              <a:spcAft>
                <a:spcPts val="1200"/>
              </a:spcAft>
              <a:defRPr sz="1400" b="0" i="1">
                <a:solidFill>
                  <a:srgbClr val="E0E0E0"/>
                </a:solidFill>
                <a:latin typeface="Calibri"/>
              </a:defRPr>
            </a:pPr>
            <a:r>
              <a:t>Astra says: "Last time we were here, it was 3 breakers, 50 feet of 12/2, took 4.5 hours."</a:t>
            </a:r>
          </a:p>
          <a:p>
            <a:pPr algn="l">
              <a:spcAft>
                <a:spcPts val="1200"/>
              </a:spcAft>
              <a:defRPr sz="1600" b="1" i="0">
                <a:solidFill>
                  <a:srgbClr val="FF6B00"/>
                </a:solidFill>
                <a:latin typeface="Calibri"/>
              </a:defRPr>
            </a:pPr>
            <a:r>
              <a:t>The estimate writes itself.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That moment is the word-of-mouth trigger. Every feature exists to make it faster, more accurate, and more reliable.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THE ESTIMATOR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E0E0E0"/>
                </a:solidFill>
                <a:latin typeface="Calibri"/>
              </a:defRPr>
            </a:pPr>
            <a:r>
              <a:t>Quotes That Write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The estimator is the core of Astra. It's not a bolt-on — the entire app feeds data into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51760"/>
            <a:ext cx="16002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651760"/>
            <a:ext cx="16002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1417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 i="0">
                <a:solidFill>
                  <a:srgbClr val="E0E0E0"/>
                </a:solidFill>
                <a:latin typeface="Calibri"/>
              </a:defRPr>
            </a:pPr>
            <a:r>
              <a:t>Materials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Unit cost × qty + markup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971800"/>
            <a:ext cx="182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651760"/>
            <a:ext cx="16002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80" y="2651760"/>
            <a:ext cx="16002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834640"/>
            <a:ext cx="1417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 i="0">
                <a:solidFill>
                  <a:srgbClr val="E0E0E0"/>
                </a:solidFill>
                <a:latin typeface="Calibri"/>
              </a:defRPr>
            </a:pPr>
            <a:r>
              <a:t>Labor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200400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Hours × your hourly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971800"/>
            <a:ext cx="182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651760"/>
            <a:ext cx="16002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2651760"/>
            <a:ext cx="16002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834640"/>
            <a:ext cx="1417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 i="0">
                <a:solidFill>
                  <a:srgbClr val="E0E0E0"/>
                </a:solidFill>
                <a:latin typeface="Calibri"/>
              </a:defRPr>
            </a:pPr>
            <a:r>
              <a:t>Overhead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00400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% of subtotal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971800"/>
            <a:ext cx="182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651760"/>
            <a:ext cx="16002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2651760"/>
            <a:ext cx="16002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834640"/>
            <a:ext cx="1417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 i="0">
                <a:solidFill>
                  <a:srgbClr val="E0E0E0"/>
                </a:solidFill>
                <a:latin typeface="Calibri"/>
              </a:defRPr>
            </a:pPr>
            <a:r>
              <a:t>Profit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00400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% of subtotal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971800"/>
            <a:ext cx="182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2651760"/>
            <a:ext cx="16002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18120" y="2651760"/>
            <a:ext cx="16002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2834640"/>
            <a:ext cx="1417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 i="0">
                <a:solidFill>
                  <a:srgbClr val="E0E0E0"/>
                </a:solidFill>
                <a:latin typeface="Calibri"/>
              </a:defRPr>
            </a:pPr>
            <a:r>
              <a:t>Tax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200400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Applied to materials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971800"/>
            <a:ext cx="182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2651760"/>
            <a:ext cx="16002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0" y="2651760"/>
            <a:ext cx="16002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834640"/>
            <a:ext cx="1417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 i="0">
                <a:solidFill>
                  <a:srgbClr val="E0E0E0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200400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Ready to share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206240"/>
            <a:ext cx="3291840" cy="2194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" y="4206240"/>
            <a:ext cx="54864" cy="21945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389120"/>
            <a:ext cx="2834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Price 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800600"/>
            <a:ext cx="28346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Set your default labor rate, overhead %, profit margin, tax rate, and markup. Every new estimate starts with your numbers.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0" y="4206240"/>
            <a:ext cx="3291840" cy="2194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51960" y="4206240"/>
            <a:ext cx="54864" cy="21945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4389120"/>
            <a:ext cx="2834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Auto-Suggest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800600"/>
            <a:ext cx="28346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Astra suggests materials based on job type and what was used at the address before. The estimate practically fills itself in.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4206240"/>
            <a:ext cx="3291840" cy="2194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18120" y="4206240"/>
            <a:ext cx="54864" cy="21945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4389120"/>
            <a:ext cx="2834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Share Instantly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4800600"/>
            <a:ext cx="28346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Generate a clean HTML estimate and share via native share or copy to clipboard. Professional-looking quotes in minutes, not hours.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INTELLIGENCE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E0E0E0"/>
                </a:solidFill>
                <a:latin typeface="Calibri"/>
              </a:defRPr>
            </a:pPr>
            <a:r>
              <a:t>Your Data Gets Smarter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3291840" cy="29260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65960" y="2286000"/>
            <a:ext cx="640080" cy="64008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E0E0E0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 i="0">
                <a:solidFill>
                  <a:srgbClr val="E0E0E0"/>
                </a:solidFill>
                <a:latin typeface="Calibri"/>
              </a:defRPr>
            </a:pPr>
            <a:r>
              <a:t>Similar 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29260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Query completed jobs by type to see average material quantities. "What does a typical panel swap look like?" — Astra tells you, based on YOUR jobs.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2011680"/>
            <a:ext cx="3291840" cy="29260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32120" y="2286000"/>
            <a:ext cx="640080" cy="64008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E0E0E0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10896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 i="0">
                <a:solidFill>
                  <a:srgbClr val="E0E0E0"/>
                </a:solidFill>
                <a:latin typeface="Calibri"/>
              </a:defRPr>
            </a:pPr>
            <a:r>
              <a:t>Address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566160"/>
            <a:ext cx="29260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Every material ever used at a property is tracked. Return visits start with a pre-populated material list.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011680"/>
            <a:ext cx="3291840" cy="29260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2286000"/>
            <a:ext cx="640080" cy="64008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E0E0E0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10896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 i="0">
                <a:solidFill>
                  <a:srgbClr val="E0E0E0"/>
                </a:solidFill>
                <a:latin typeface="Calibri"/>
              </a:defRPr>
            </a:pPr>
            <a:r>
              <a:t>Property Intel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566160"/>
            <a:ext cx="29260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Panel type, amp rating, breaker brand, service type, builder — all captured once and available forever.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303520"/>
            <a:ext cx="10820095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5303520"/>
            <a:ext cx="10820095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4864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 i="0">
                <a:solidFill>
                  <a:srgbClr val="E0E0E0"/>
                </a:solidFill>
                <a:latin typeface="Calibri"/>
              </a:defRPr>
            </a:pPr>
            <a:r>
              <a:t>Estimated vs. Actual Feedback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85216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After a job is complete, Astra compares your estimate to what actually happened. Over time, your accuracy improves automatically. This is the flywheel that makes Astra indispensable.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E0E0E0"/>
                </a:solidFill>
                <a:latin typeface="Calibri"/>
              </a:defRPr>
            </a:pPr>
            <a:r>
              <a:t>Vector Board &amp; Google Maps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5029200" cy="4114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50292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 i="0">
                <a:solidFill>
                  <a:srgbClr val="E0E0E0"/>
                </a:solidFill>
                <a:latin typeface="Calibri"/>
              </a:defRPr>
            </a:pPr>
            <a:r>
              <a:t>Vector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44805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A priority staging area for your most important tickets. Pin jobs to the Vector Board to keep them front and center.</a:t>
            </a:r>
            <a:br/>
            <a:br/>
            <a:r>
              <a:t>Think of it as your daily war room — the jobs that need attention right now, visible at a glance. Route optimization lets you plan the most efficient drive order.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50292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 i="0">
                <a:solidFill>
                  <a:srgbClr val="E0E0E0"/>
                </a:solidFill>
                <a:latin typeface="Calibri"/>
              </a:defRPr>
            </a:pPr>
            <a:r>
              <a:t>Google Maps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92608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92608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Job markers with status-colored pins on the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42900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42900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One-tap navigation to any job 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93192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93192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Route optimization for daily job 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43484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43484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Address autocomplete when creating tickets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93776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93776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Geocoding for address coordinates stored per property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E0E0E0"/>
                </a:solidFill>
                <a:latin typeface="Calibri"/>
              </a:defRPr>
            </a:pPr>
            <a:r>
              <a:t>Photos, Videos &amp; Drawings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Document every job visually. All media is stored locally in IndexedDB — no cloud account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43200"/>
            <a:ext cx="3291840" cy="2560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3017520"/>
            <a:ext cx="731520" cy="7315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0E0E0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 i="0">
                <a:solidFill>
                  <a:srgbClr val="E0E0E0"/>
                </a:solidFill>
                <a:latin typeface="Calibri"/>
              </a:defRPr>
            </a:pPr>
            <a:r>
              <a:t>Photos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2926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Snap before/after photos directly from the app. Attach to any ticket for permanent records.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2743200"/>
            <a:ext cx="3291840" cy="2560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32120" y="3017520"/>
            <a:ext cx="731520" cy="7315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0E0E0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93192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 i="0">
                <a:solidFill>
                  <a:srgbClr val="E0E0E0"/>
                </a:solidFill>
                <a:latin typeface="Calibri"/>
              </a:defRPr>
            </a:pPr>
            <a:r>
              <a:t>Videos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434840"/>
            <a:ext cx="2926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Record short walkthrough videos of the job site. Perfect for documenting existing conditions.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2743200"/>
            <a:ext cx="3291840" cy="2560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98280" y="3017520"/>
            <a:ext cx="731520" cy="7315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0E0E0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93192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 i="0">
                <a:solidFill>
                  <a:srgbClr val="E0E0E0"/>
                </a:solidFill>
                <a:latin typeface="Calibri"/>
              </a:defRPr>
            </a:pPr>
            <a:r>
              <a:t>Drawings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434840"/>
            <a:ext cx="2926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Sketch panel layouts, wiring diagrams, or notes right on the screen. Saved with the ticket.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60720"/>
            <a:ext cx="108200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All media stays on your device and travels with the ticket. No cloud storage fees. No upload delays.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E0E0E0"/>
                </a:solidFill>
                <a:latin typeface="Calibri"/>
              </a:defRPr>
            </a:pPr>
            <a:r>
              <a:t>Cloud Sync with Supabase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Your data lives locally first — but when you're ready, Astra syncs everything to the cloud. Cross-device access, automatic backup, and real-time updates.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43200"/>
            <a:ext cx="4937760" cy="15544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743200"/>
            <a:ext cx="54864" cy="1554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880360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Push &amp; Pull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4389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Full bidirectional sync: jobs, addresses, techs, and materials all sync to Supabase.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2743200"/>
            <a:ext cx="4937760" cy="15544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2743200"/>
            <a:ext cx="54864" cy="1554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880360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Conflict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246120"/>
            <a:ext cx="4389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Local-wins strategy with timestamp comparison. Your on-site edits are never overwritten by stale cloud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572000"/>
            <a:ext cx="4937760" cy="15544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572000"/>
            <a:ext cx="54864" cy="1554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09160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Realtime Updates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074920"/>
            <a:ext cx="4389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Supabase realtime subscriptions push changes instantly. When one device syncs, others update live.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4572000"/>
            <a:ext cx="4937760" cy="15544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4572000"/>
            <a:ext cx="54864" cy="1554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709160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Data Backup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074920"/>
            <a:ext cx="4389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Your job history, address intelligence, and material data are safely backed up in the cloud. Export to JSON anytime.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E0E0E0"/>
                </a:solidFill>
                <a:latin typeface="Calibri"/>
              </a:defRPr>
            </a:pPr>
            <a:r>
              <a:t>A Massive Underserved 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3291840" cy="1828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 i="0">
                <a:solidFill>
                  <a:srgbClr val="FF6B00"/>
                </a:solidFill>
                <a:latin typeface="Calibri"/>
              </a:defRPr>
            </a:pPr>
            <a:r>
              <a:t>60-70%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of small electrical crews</a:t>
            </a:r>
            <a:br/>
            <a:r>
              <a:t>use ZERO FSM 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2011680"/>
            <a:ext cx="3291840" cy="1828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219456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 i="0">
                <a:solidFill>
                  <a:srgbClr val="FF6B00"/>
                </a:solidFill>
                <a:latin typeface="Calibri"/>
              </a:defRPr>
            </a:pPr>
            <a:r>
              <a:t>1-5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301752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person crews are the</a:t>
            </a:r>
            <a:br/>
            <a:r>
              <a:t>primary target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2011680"/>
            <a:ext cx="3291840" cy="1828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19456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 i="0">
                <a:solidFill>
                  <a:srgbClr val="FF6B0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01752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cost to try — PWA installs</a:t>
            </a:r>
            <a:br/>
            <a:r>
              <a:t>from the browser 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1480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The field service management (FSM) market is dominated by enterprise tools built for large companies with dedicated office staff. ServiceTitan, Housecall Pro, and Jobber all target companies with 10+ employees and charge accordingly.</a:t>
            </a:r>
            <a:br/>
            <a:br/>
            <a:r>
              <a:t>Solo electricians and small crews — the majority of the market — are left with pen and paper, spreadsheets, and text messages. They need a tool that's fast, offline-first, and built by someone who understands the work.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E0E0E0"/>
                </a:solidFill>
                <a:latin typeface="Calibri"/>
              </a:defRPr>
            </a:pPr>
            <a:r>
              <a:t>What Makes Astra Different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57400"/>
                <a:gridCol w="2057400"/>
                <a:gridCol w="2057400"/>
                <a:gridCol w="20574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Astra</a:t>
                      </a:r>
                    </a:p>
                  </a:txBody>
                  <a:tcPr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ServiceTitan</a:t>
                      </a:r>
                    </a:p>
                  </a:txBody>
                  <a:tcPr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Housecall Pro</a:t>
                      </a:r>
                    </a:p>
                  </a:txBody>
                  <a:tcPr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Jobber</a:t>
                      </a:r>
                    </a:p>
                  </a:txBody>
                  <a:tcPr>
                    <a:solidFill>
                      <a:srgbClr val="FF6B0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Offline-First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6B0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3020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Address Intelligence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6B0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3020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Material Tracking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6B00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>
                    <a:solidFill>
                      <a:srgbClr val="3020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Add-on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Cost Intelligence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6B00"/>
                          </a:solidFill>
                          <a:latin typeface="Calibri"/>
                        </a:defRPr>
                      </a:pPr>
                      <a:r>
                        <a:t>Automatic</a:t>
                      </a:r>
                    </a:p>
                  </a:txBody>
                  <a:tcPr>
                    <a:solidFill>
                      <a:srgbClr val="3020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Target Size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6B00"/>
                          </a:solidFill>
                          <a:latin typeface="Calibri"/>
                        </a:defRPr>
                      </a:pPr>
                      <a:r>
                        <a:t>1-6 crew</a:t>
                      </a:r>
                    </a:p>
                  </a:txBody>
                  <a:tcPr>
                    <a:solidFill>
                      <a:srgbClr val="3020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10+ crew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5+ crew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5+ crew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Free Tier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6B0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3020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Trial only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Works Without Signal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6B0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3020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~30%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E0E0E0"/>
                </a:solidFill>
                <a:latin typeface="Calibri"/>
              </a:defRPr>
            </a:pPr>
            <a:r>
              <a:t>Phase 1 — Coming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4937760" cy="12801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54864" cy="1280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Invoicing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4389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Stripe integration for sending invoices directly from completed jobs. Get paid faster.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2011680"/>
            <a:ext cx="4937760" cy="12801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2011680"/>
            <a:ext cx="54864" cy="1280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12140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CRM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468880"/>
            <a:ext cx="4389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Customer database with contact info, job history, and communication logs.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520440"/>
            <a:ext cx="4937760" cy="12801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520440"/>
            <a:ext cx="54864" cy="1280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3016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Multi-User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77640"/>
            <a:ext cx="4389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Supabase Auth with role-based access. Techs see their jobs, supervisors see everything.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3520440"/>
            <a:ext cx="4937760" cy="12801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3520440"/>
            <a:ext cx="54864" cy="1280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63016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Calendar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977640"/>
            <a:ext cx="4389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Drag-and-drop scheduling with tech availability and job duration estimates.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029200"/>
            <a:ext cx="4937760" cy="12801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5029200"/>
            <a:ext cx="54864" cy="1280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13892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QuickBooks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486400"/>
            <a:ext cx="4389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Export invoices and job data directly to QuickBooks for bookkeeping.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5029200"/>
            <a:ext cx="4937760" cy="12801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9320" y="5029200"/>
            <a:ext cx="54864" cy="1280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513892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Cloud Sync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486400"/>
            <a:ext cx="4389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Full estimate sync, media sync to Supabase Storage, and retry queues.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E0E0E0"/>
                </a:solidFill>
                <a:latin typeface="Calibri"/>
              </a:defRPr>
            </a:pPr>
            <a:r>
              <a:t>From Job Tracker to Cost Intelligence Platform</a:t>
            </a:r>
          </a:p>
        </p:txBody>
      </p:sp>
      <p:sp>
        <p:nvSpPr>
          <p:cNvPr id="4" name="Oval 3"/>
          <p:cNvSpPr/>
          <p:nvPr/>
        </p:nvSpPr>
        <p:spPr>
          <a:xfrm>
            <a:off x="1691640" y="2286000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2395728"/>
            <a:ext cx="2468880" cy="5486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 i="0">
                <a:solidFill>
                  <a:srgbClr val="E0E0E0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 i="0">
                <a:solidFill>
                  <a:srgbClr val="FF6B00"/>
                </a:solidFill>
                <a:latin typeface="Calibri"/>
              </a:defRPr>
            </a:pPr>
            <a:r>
              <a:t>v0.6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24688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Job tracking, materials,</a:t>
            </a:r>
            <a:br/>
            <a:r>
              <a:t>estimates, address intel</a:t>
            </a:r>
          </a:p>
        </p:txBody>
      </p:sp>
      <p:sp>
        <p:nvSpPr>
          <p:cNvPr id="9" name="Oval 8"/>
          <p:cNvSpPr/>
          <p:nvPr/>
        </p:nvSpPr>
        <p:spPr>
          <a:xfrm>
            <a:off x="4434840" y="2286000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2395728"/>
            <a:ext cx="2468880" cy="5486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74320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 i="0">
                <a:solidFill>
                  <a:srgbClr val="E0E0E0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15468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 i="0">
                <a:solidFill>
                  <a:srgbClr val="FF6B00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474720"/>
            <a:ext cx="24688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Invoicing, CRM,</a:t>
            </a:r>
            <a:br/>
            <a:r>
              <a:t>multi-user, calendar</a:t>
            </a:r>
          </a:p>
        </p:txBody>
      </p:sp>
      <p:sp>
        <p:nvSpPr>
          <p:cNvPr id="14" name="Oval 13"/>
          <p:cNvSpPr/>
          <p:nvPr/>
        </p:nvSpPr>
        <p:spPr>
          <a:xfrm>
            <a:off x="7178040" y="2286000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395728"/>
            <a:ext cx="2468880" cy="5486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74320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 i="0">
                <a:solidFill>
                  <a:srgbClr val="E0E0E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15468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 i="0">
                <a:solidFill>
                  <a:srgbClr val="FF6B00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474720"/>
            <a:ext cx="24688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Fleet management,</a:t>
            </a:r>
            <a:br/>
            <a:r>
              <a:t>inventory, purchasing</a:t>
            </a:r>
          </a:p>
        </p:txBody>
      </p:sp>
      <p:sp>
        <p:nvSpPr>
          <p:cNvPr id="19" name="Oval 18"/>
          <p:cNvSpPr/>
          <p:nvPr/>
        </p:nvSpPr>
        <p:spPr>
          <a:xfrm>
            <a:off x="9921240" y="2286000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74320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 i="0">
                <a:solidFill>
                  <a:srgbClr val="E0E0E0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15468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 i="0">
                <a:solidFill>
                  <a:srgbClr val="FF6B00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474720"/>
            <a:ext cx="24688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Industry benchmarks,</a:t>
            </a:r>
            <a:br/>
            <a:r>
              <a:t>market-rate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754880"/>
            <a:ext cx="10820095" cy="16459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93776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  <a:defRPr sz="2000" b="1" i="0">
                <a:solidFill>
                  <a:srgbClr val="FF6B00"/>
                </a:solidFill>
                <a:latin typeface="Calibri"/>
              </a:defRPr>
            </a:pPr>
            <a:r>
              <a:t>The Flywheel Effect</a:t>
            </a:r>
          </a:p>
          <a:p>
            <a:pPr algn="l">
              <a:spcAft>
                <a:spcPts val="1000"/>
              </a:spcAft>
              <a:defRPr sz="1500" b="0" i="0">
                <a:solidFill>
                  <a:srgbClr val="E0E0E0"/>
                </a:solidFill>
                <a:latin typeface="Calibri"/>
              </a:defRPr>
            </a:pPr>
            <a:r>
              <a:t>Every job logged → more address data → better estimates → more accurate pricing → happier customers → more jobs → more data.</a:t>
            </a:r>
          </a:p>
          <a:p>
            <a:pPr algn="l">
              <a:spcAft>
                <a:spcPts val="600"/>
              </a:spcAft>
              <a:defRPr sz="1400" b="0" i="1">
                <a:solidFill>
                  <a:srgbClr val="666666"/>
                </a:solidFill>
                <a:latin typeface="Calibri"/>
              </a:defRPr>
            </a:pPr>
            <a:r>
              <a:t>The more you use Astra, the more valuable it becomes. That's not a feature — it's a moat.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FF6B00"/>
                </a:solidFill>
                <a:latin typeface="Calibri"/>
              </a:defRPr>
            </a:pPr>
            <a:r>
              <a:t>WHY ASTRA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 i="0">
                <a:solidFill>
                  <a:srgbClr val="E0E0E0"/>
                </a:solidFill>
                <a:latin typeface="Calibri"/>
              </a:defRPr>
            </a:pPr>
            <a:r>
              <a:t>Built by an Electrician. For Electricians.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4937760" cy="1920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54864" cy="1920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Offline-First, Not Offline-Kinda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43891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Every feature works with zero signal. Not "limited offline mode" — full functionality, all the time. Because we know what one bar of signal actually means on a job site.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2011680"/>
            <a:ext cx="4937760" cy="1920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2011680"/>
            <a:ext cx="54864" cy="1920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14884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No Learning Curve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560320"/>
            <a:ext cx="43891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If you can use your phone, you can use Astra. No training manuals, no onboarding calls, no 30-minute demos. Open it and start working.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206240"/>
            <a:ext cx="4937760" cy="1920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06240"/>
            <a:ext cx="54864" cy="1920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34340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Your Data Works for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54880"/>
            <a:ext cx="43891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Most apps store your data. Astra learns from it. Every job makes the next estimate smarter. That's not a gimmick — it's the architecture.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4206240"/>
            <a:ext cx="4937760" cy="1920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4206240"/>
            <a:ext cx="54864" cy="1920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34340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E0E0E0"/>
                </a:solidFill>
                <a:latin typeface="Calibri"/>
              </a:defRPr>
            </a:pPr>
            <a:r>
              <a:t>Zero Lock-In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754880"/>
            <a:ext cx="43891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Export everything to JSON anytime. Your data is yours. If you leave, it all comes with you.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914400"/>
            <a:ext cx="5486400" cy="5486400"/>
          </a:xfrm>
          <a:prstGeom prst="ellipse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400" b="1" i="0">
                <a:solidFill>
                  <a:srgbClr val="E0E0E0"/>
                </a:solidFill>
                <a:latin typeface="Calibri"/>
              </a:defRPr>
            </a:pPr>
            <a:r>
              <a:t>ASTRA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820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0" i="0">
                <a:solidFill>
                  <a:srgbClr val="FF6B00"/>
                </a:solidFill>
                <a:latin typeface="Calibri"/>
              </a:defRPr>
            </a:pPr>
            <a:r>
              <a:t>Stop guessing. Start knowing.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0"/>
            <a:ext cx="75895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Every job you log makes your next estimate smarter.</a:t>
            </a:r>
            <a:br/>
            <a:r>
              <a:t>Every address you visit builds your competitive advantage.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389120"/>
            <a:ext cx="3931920" cy="7315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4389120"/>
            <a:ext cx="39319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 i="0">
                <a:solidFill>
                  <a:srgbClr val="050A15"/>
                </a:solidFill>
                <a:latin typeface="Calibri"/>
              </a:defRPr>
            </a:pPr>
            <a:r>
              <a:t>Try Astra Free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89320"/>
            <a:ext cx="1082009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PWA  •  Offline-First  •  No App Store Required  •  Free to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Built in Houston, 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